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Poppins"/>
      <p:regular r:id="rId27"/>
      <p:bold r:id="rId28"/>
      <p:italic r:id="rId29"/>
      <p:boldItalic r:id="rId30"/>
    </p:embeddedFont>
    <p:embeddedFont>
      <p:font typeface="Space Grotesk Light"/>
      <p:regular r:id="rId31"/>
      <p:bold r:id="rId32"/>
    </p:embeddedFont>
    <p:embeddedFont>
      <p:font typeface="Space Grotesk Medium"/>
      <p:regular r:id="rId33"/>
      <p:bold r:id="rId34"/>
    </p:embeddedFont>
    <p:embeddedFont>
      <p:font typeface="Poppins SemiBold"/>
      <p:regular r:id="rId35"/>
      <p:bold r:id="rId36"/>
      <p:italic r:id="rId37"/>
      <p:boldItalic r:id="rId38"/>
    </p:embeddedFont>
    <p:embeddedFont>
      <p:font typeface="Space Grotesk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5C299A-1F18-4144-87EC-A3B98441E50E}">
  <a:tblStyle styleId="{FB5C299A-1F18-4144-87EC-A3B98441E5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aceGroteskLight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SpaceGroteskMedium-regular.fntdata"/><Relationship Id="rId10" Type="http://schemas.openxmlformats.org/officeDocument/2006/relationships/slide" Target="slides/slide4.xml"/><Relationship Id="rId32" Type="http://schemas.openxmlformats.org/officeDocument/2006/relationships/font" Target="fonts/SpaceGroteskLight-bold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SpaceGroteskMedium-bold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italic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bold.fntdata"/><Relationship Id="rId17" Type="http://schemas.openxmlformats.org/officeDocument/2006/relationships/slide" Target="slides/slide11.xml"/><Relationship Id="rId39" Type="http://schemas.openxmlformats.org/officeDocument/2006/relationships/font" Target="fonts/SpaceGrotesk-regular.fntdata"/><Relationship Id="rId16" Type="http://schemas.openxmlformats.org/officeDocument/2006/relationships/slide" Target="slides/slide10.xml"/><Relationship Id="rId38" Type="http://schemas.openxmlformats.org/officeDocument/2006/relationships/font" Target="fonts/PoppinsSemi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223898aab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e223898aab_0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223898aab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223898aab_0_2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223898aab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223898aab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223898aab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e223898aab_0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223898aab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e223898aab_0_2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23898aa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e223898aab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223898aa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e223898aa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9.jpg"/><Relationship Id="rId6" Type="http://schemas.openxmlformats.org/officeDocument/2006/relationships/image" Target="../media/image13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0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23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40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43.png"/><Relationship Id="rId7" Type="http://schemas.openxmlformats.org/officeDocument/2006/relationships/image" Target="../media/image28.png"/><Relationship Id="rId8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9" Type="http://schemas.openxmlformats.org/officeDocument/2006/relationships/image" Target="../media/image51.png"/><Relationship Id="rId5" Type="http://schemas.openxmlformats.org/officeDocument/2006/relationships/image" Target="../media/image22.png"/><Relationship Id="rId6" Type="http://schemas.openxmlformats.org/officeDocument/2006/relationships/image" Target="../media/image38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36.png"/><Relationship Id="rId5" Type="http://schemas.openxmlformats.org/officeDocument/2006/relationships/image" Target="../media/image2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Relationship Id="rId4" Type="http://schemas.openxmlformats.org/officeDocument/2006/relationships/image" Target="../media/image21.png"/><Relationship Id="rId5" Type="http://schemas.openxmlformats.org/officeDocument/2006/relationships/image" Target="../media/image44.png"/><Relationship Id="rId6" Type="http://schemas.openxmlformats.org/officeDocument/2006/relationships/image" Target="../media/image35.png"/><Relationship Id="rId7" Type="http://schemas.openxmlformats.org/officeDocument/2006/relationships/image" Target="../media/image6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2.gif"/><Relationship Id="rId4" Type="http://schemas.openxmlformats.org/officeDocument/2006/relationships/image" Target="../media/image37.png"/><Relationship Id="rId5" Type="http://schemas.openxmlformats.org/officeDocument/2006/relationships/image" Target="../media/image26.png"/><Relationship Id="rId6" Type="http://schemas.openxmlformats.org/officeDocument/2006/relationships/image" Target="../media/image41.png"/><Relationship Id="rId7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Relationship Id="rId5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Relationship Id="rId4" Type="http://schemas.openxmlformats.org/officeDocument/2006/relationships/image" Target="../media/image45.png"/><Relationship Id="rId5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4.png"/><Relationship Id="rId4" Type="http://schemas.openxmlformats.org/officeDocument/2006/relationships/image" Target="../media/image60.png"/><Relationship Id="rId5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42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3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5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35.png"/><Relationship Id="rId5" Type="http://schemas.openxmlformats.org/officeDocument/2006/relationships/image" Target="../media/image5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501229"/>
            <a:ext cx="115815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Deep Learning for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Bayesian Computation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413670"/>
            <a:ext cx="11029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Applying Normalizing Flow Methods to Exoplanet Inference on K2-24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747170"/>
            <a:ext cx="110301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Space Grotesk"/>
                <a:ea typeface="Space Grotesk"/>
                <a:cs typeface="Space Grotesk"/>
                <a:sym typeface="Space Grotesk"/>
              </a:rPr>
              <a:t>Daniel Christensen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5051970"/>
            <a:ext cx="1103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Neural Inference | Exoplanet Orbital Dynamics</a:t>
            </a:r>
            <a:endParaRPr/>
          </a:p>
        </p:txBody>
      </p:sp>
      <p:pic>
        <p:nvPicPr>
          <p:cNvPr id="89" name="Google Shape;89;p13" title="K2-24_Artistic_Picture.png"/>
          <p:cNvPicPr preferRelativeResize="0"/>
          <p:nvPr/>
        </p:nvPicPr>
        <p:blipFill rotWithShape="1">
          <a:blip r:embed="rId4">
            <a:alphaModFix/>
          </a:blip>
          <a:srcRect b="8791" l="0" r="636" t="18976"/>
          <a:stretch/>
        </p:blipFill>
        <p:spPr>
          <a:xfrm>
            <a:off x="7100850" y="4118700"/>
            <a:ext cx="3671700" cy="2467500"/>
          </a:xfrm>
          <a:prstGeom prst="ellipse">
            <a:avLst/>
          </a:prstGeom>
          <a:noFill/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8595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2805112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Exoplanet astronomy has transitioned into an industrial-scale data challenge.</a:t>
            </a: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5">
            <a:alphaModFix/>
          </a:blip>
          <a:srcRect b="1258" l="0" r="0" t="1248"/>
          <a:stretch/>
        </p:blipFill>
        <p:spPr>
          <a:xfrm>
            <a:off x="6343650" y="1895475"/>
            <a:ext cx="5259997" cy="379094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14400" y="3605212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5000+ confirmed exoplanets to date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4052887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Radial velocity (RV) is a dominant indirect method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4500562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Posterior characterization defines habitability claims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480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09575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54342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Exoplanet Inference?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443194" y="5835800"/>
            <a:ext cx="38100" cy="34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616250" y="5823500"/>
            <a:ext cx="553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of an exoplanet captured by the James Webb Space Telescope. 			 		 					 				</a:t>
            </a:r>
            <a:endParaRPr b="1" sz="8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Credit goes to NASA/ESA/CSA, A Carter (UCSC), the ERS 1386 team, and A. Pagan (STScI).			</a:t>
            </a:r>
            <a:endParaRPr sz="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85950"/>
            <a:ext cx="25431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1885950"/>
            <a:ext cx="25431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885950"/>
            <a:ext cx="25431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67800" y="1885950"/>
            <a:ext cx="25431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76300" y="2857500"/>
            <a:ext cx="20502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HMC Baseline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76300" y="3248025"/>
            <a:ext cx="19526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Standard Hamiltonian Monte Carlo for exact but often slow sampling.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705225" y="2857500"/>
            <a:ext cx="20502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Flow-MCMC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705225" y="3248025"/>
            <a:ext cx="19526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Adaptive flow proposals to bridge multimodal gaps (Gabrié et al. 2022).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34150" y="2857500"/>
            <a:ext cx="20502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Mean-Field VI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534150" y="3248025"/>
            <a:ext cx="19526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Fast but restricted Gaussian approximation baseline.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363075" y="2857500"/>
            <a:ext cx="20502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Flow VI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363075" y="3248025"/>
            <a:ext cx="19526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Highly expressive variational family via Planar Flows (Rezende 2015).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2193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05225" y="22193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22193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63075" y="22193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PAIRED COMPARISON FRAMEWORK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449175" y="2235150"/>
            <a:ext cx="554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Properties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81025" y="2621463"/>
            <a:ext cx="5277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EPIC 203771098: A Sun-like star with two known transiting Neptunian planets. Spa</a:t>
            </a:r>
            <a:r>
              <a:rPr lang="en-US" sz="135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n</a:t>
            </a: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s </a:t>
            </a:r>
            <a:r>
              <a:rPr lang="en-US" sz="135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~ 100 days, with </a:t>
            </a:r>
            <a:r>
              <a:rPr lang="en-US" sz="1350">
                <a:solidFill>
                  <a:srgbClr val="94A3B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</a:t>
            </a:r>
            <a:r>
              <a:rPr lang="en-US" sz="1350">
                <a:solidFill>
                  <a:srgbClr val="94A3B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wo known transiting planets: P_b = 20.89 d, P_c = 42.36 d.</a:t>
            </a:r>
            <a:endParaRPr sz="1350">
              <a:solidFill>
                <a:srgbClr val="94A3B8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914400" y="3667125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32 RV observations from Keck/HIRES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14400" y="4114800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100-day observational baseline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14400" y="4562475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Ground truth periods from K2 photometry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7099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57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60533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K2-24 DATASET</a:t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34125" y="1914500"/>
            <a:ext cx="5276849" cy="37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1894140"/>
            <a:ext cx="5276850" cy="3803135"/>
          </a:xfrm>
          <a:prstGeom prst="rect">
            <a:avLst/>
          </a:prstGeom>
          <a:noFill/>
          <a:ln cap="flat" cmpd="sng" w="1905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16"/>
          <p:cNvSpPr txBox="1"/>
          <p:nvPr/>
        </p:nvSpPr>
        <p:spPr>
          <a:xfrm>
            <a:off x="6230800" y="1337450"/>
            <a:ext cx="610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32 RV observations from Keck/HIRES, EPIC 203771098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510838" y="5010150"/>
            <a:ext cx="1190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6956800" y="3927416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12 Parameters: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 P, tp, e, omega, K (x2) + v0, jitter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956800" y="4506591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Newton Iteration: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 To invert Kepler's equation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956800" y="3032066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Differentiable: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 Model implemented in PyTorch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956800" y="3479741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Jitter: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 Absorbs unmodeled stellar activity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3425" y="397027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5813" y="453515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3425" y="307492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3425" y="352260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TWO-PLANET KEPLERIAN MODEL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8">
            <a:alphaModFix/>
          </a:blip>
          <a:srcRect b="32109" l="20618" r="50466" t="32255"/>
          <a:stretch/>
        </p:blipFill>
        <p:spPr>
          <a:xfrm>
            <a:off x="274850" y="1801251"/>
            <a:ext cx="6110448" cy="4235925"/>
          </a:xfrm>
          <a:prstGeom prst="rect">
            <a:avLst/>
          </a:prstGeom>
          <a:noFill/>
          <a:ln cap="flat" cmpd="sng" w="19050">
            <a:solidFill>
              <a:srgbClr val="22D3EE"/>
            </a:solidFill>
            <a:prstDash val="lg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81025" y="4799409"/>
            <a:ext cx="1103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Smooth priors avoid hard boundary gradients that could break VI optimization.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14400" y="2685454"/>
            <a:ext cx="1069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Log Period: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log P ~ N(log 50, 2²) — Coverage: 7 to 370 days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914400" y="3068240"/>
            <a:ext cx="1069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Periastron: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tp ~ N(2400, 50²) — Centered on data epoch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14400" y="3451026"/>
            <a:ext cx="1069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Eccentricity: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e ~ Beta(0.867, 3.03) — Calibrated via Kipping (2013)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914400" y="3833812"/>
            <a:ext cx="1069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Semi-amplitude: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K ~ HalfNormal(50) — Weakly informative for RV signal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14400" y="4216598"/>
            <a:ext cx="1069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Log Jitter: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log σJ ~ N(0, 2²) — Absorbs unmodeled stellar activity</a:t>
            </a:r>
            <a:endParaRPr/>
          </a:p>
        </p:txBody>
      </p:sp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187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0157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484364"/>
            <a:ext cx="1524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86715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24993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Weakly Informative Priors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81025" y="581025"/>
            <a:ext cx="47700" cy="543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8"/>
          <p:cNvPicPr preferRelativeResize="0"/>
          <p:nvPr/>
        </p:nvPicPr>
        <p:blipFill rotWithShape="1">
          <a:blip r:embed="rId9">
            <a:alphaModFix/>
          </a:blip>
          <a:srcRect b="46100" l="25771" r="54840" t="38106"/>
          <a:stretch/>
        </p:blipFill>
        <p:spPr>
          <a:xfrm>
            <a:off x="7501175" y="2458425"/>
            <a:ext cx="4525526" cy="2073700"/>
          </a:xfrm>
          <a:prstGeom prst="rect">
            <a:avLst/>
          </a:prstGeom>
          <a:noFill/>
          <a:ln cap="flat" cmpd="sng" w="19050">
            <a:solidFill>
              <a:srgbClr val="22D3EE"/>
            </a:solidFill>
            <a:prstDash val="lg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85950"/>
            <a:ext cx="34861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885950"/>
            <a:ext cx="34861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885950"/>
            <a:ext cx="34861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876300" y="2857500"/>
            <a:ext cx="30403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 Dimensionality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76300" y="3248025"/>
            <a:ext cx="2895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12-D space precludes grid-based methods; requires intelligent exploration.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4648200" y="2857500"/>
            <a:ext cx="30403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Multimodality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4648200" y="3248025"/>
            <a:ext cx="2895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Period aliasing creates secondary modes at fractions of true periods.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420100" y="2857500"/>
            <a:ext cx="30403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Nonlinear Likelihood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420100" y="3248025"/>
            <a:ext cx="2895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Strongly nonlinear in P and e; local curvature varies wildly across the space.</a:t>
            </a:r>
            <a:endParaRPr/>
          </a:p>
        </p:txBody>
      </p:sp>
      <p:pic>
        <p:nvPicPr>
          <p:cNvPr descr="image.png" id="199" name="Google Shape;19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2193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2193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2193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THIS POSTERIOR IS HARD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81025" y="6221275"/>
            <a:ext cx="1103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Result: Posterior geometry becomes isotropic in "eta" space, allowing uniform MCMC step sizes.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81025" y="2581275"/>
            <a:ext cx="3764905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345930" y="2581275"/>
            <a:ext cx="3064817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7410747" y="2581275"/>
            <a:ext cx="4200227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81025" y="3148012"/>
            <a:ext cx="3764905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345930" y="3148012"/>
            <a:ext cx="3064817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7410747" y="3148012"/>
            <a:ext cx="4200227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581025" y="3700462"/>
            <a:ext cx="3764905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4345930" y="3700462"/>
            <a:ext cx="3064817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7410747" y="3700462"/>
            <a:ext cx="4200227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81025" y="4252912"/>
            <a:ext cx="3764905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345930" y="4252912"/>
            <a:ext cx="3064817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7410747" y="4252912"/>
            <a:ext cx="4200227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581025" y="4805362"/>
            <a:ext cx="3764905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4345930" y="4805362"/>
            <a:ext cx="3064817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7410747" y="4805362"/>
            <a:ext cx="4200227" cy="95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COORDINATE REPARAMETERIZATION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2438400" y="1136550"/>
            <a:ext cx="7377300" cy="4984200"/>
          </a:xfrm>
          <a:prstGeom prst="rect">
            <a:avLst/>
          </a:prstGeom>
          <a:solidFill>
            <a:srgbClr val="F97316"/>
          </a:solidFill>
          <a:ln cap="flat" cmpd="sng" w="19050">
            <a:solidFill>
              <a:srgbClr val="4F46E5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20"/>
          <p:cNvPicPr preferRelativeResize="0"/>
          <p:nvPr/>
        </p:nvPicPr>
        <p:blipFill rotWithShape="1">
          <a:blip r:embed="rId4">
            <a:alphaModFix/>
          </a:blip>
          <a:srcRect b="25646" l="18646" r="49151" t="34387"/>
          <a:stretch/>
        </p:blipFill>
        <p:spPr>
          <a:xfrm>
            <a:off x="2810363" y="1326487"/>
            <a:ext cx="6571277" cy="458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6706200" y="3799613"/>
            <a:ext cx="527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Augments posterior with auxiliary momentum variables. Trajectories stay on energy level sets, allowing long steps while maintaining high acceptance rates.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706200" y="4818338"/>
            <a:ext cx="5277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Config: L = 30 steps, ε = 0.01.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7039688" y="2338325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12 Chains | 500 samples each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7039688" y="2786000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Symplectic Leapfrog Integrator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7039688" y="3233675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Metropolis-Hastings correction</a:t>
            </a:r>
            <a:endParaRPr/>
          </a:p>
        </p:txBody>
      </p:sp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6313" y="23811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6313" y="2828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6313" y="327653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HAMILTONIAN MONTE CARLO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1"/>
          <p:cNvPicPr preferRelativeResize="0"/>
          <p:nvPr/>
        </p:nvPicPr>
        <p:blipFill rotWithShape="1">
          <a:blip r:embed="rId7">
            <a:alphaModFix/>
          </a:blip>
          <a:srcRect b="42359" l="22541" r="53221" t="34955"/>
          <a:stretch/>
        </p:blipFill>
        <p:spPr>
          <a:xfrm>
            <a:off x="373375" y="2167293"/>
            <a:ext cx="5812349" cy="3060175"/>
          </a:xfrm>
          <a:prstGeom prst="rect">
            <a:avLst/>
          </a:prstGeom>
          <a:noFill/>
          <a:ln cap="flat" cmpd="sng" w="19050">
            <a:solidFill>
              <a:srgbClr val="22D3EE"/>
            </a:solidFill>
            <a:prstDash val="lg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HAMILTONIAN MONTE CARLO </a:t>
            </a:r>
            <a:r>
              <a:rPr b="1" lang="en-US" sz="2700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RESULTS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581025" y="581025"/>
            <a:ext cx="38100" cy="4383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2"/>
          <p:cNvPicPr preferRelativeResize="0"/>
          <p:nvPr/>
        </p:nvPicPr>
        <p:blipFill rotWithShape="1">
          <a:blip r:embed="rId5">
            <a:alphaModFix/>
          </a:blip>
          <a:srcRect b="34314" l="44068" r="41525" t="44951"/>
          <a:stretch/>
        </p:blipFill>
        <p:spPr>
          <a:xfrm>
            <a:off x="7729600" y="3566250"/>
            <a:ext cx="3694973" cy="2991349"/>
          </a:xfrm>
          <a:prstGeom prst="rect">
            <a:avLst/>
          </a:prstGeom>
          <a:noFill/>
          <a:ln cap="flat" cmpd="sng" w="38100">
            <a:solidFill>
              <a:srgbClr val="22D3EE"/>
            </a:solidFill>
            <a:prstDash val="lgDash"/>
            <a:round/>
            <a:headEnd len="sm" w="sm" type="none"/>
            <a:tailEnd len="sm" w="sm" type="none"/>
          </a:ln>
        </p:spPr>
      </p:pic>
      <p:pic>
        <p:nvPicPr>
          <p:cNvPr id="253" name="Google Shape;253;p22"/>
          <p:cNvPicPr preferRelativeResize="0"/>
          <p:nvPr/>
        </p:nvPicPr>
        <p:blipFill rotWithShape="1">
          <a:blip r:embed="rId6">
            <a:alphaModFix/>
          </a:blip>
          <a:srcRect b="2420" l="0" r="50273" t="0"/>
          <a:stretch/>
        </p:blipFill>
        <p:spPr>
          <a:xfrm>
            <a:off x="581025" y="1642374"/>
            <a:ext cx="6219976" cy="4370950"/>
          </a:xfrm>
          <a:prstGeom prst="rect">
            <a:avLst/>
          </a:prstGeom>
          <a:noFill/>
          <a:ln cap="flat" cmpd="sng" w="28575">
            <a:solidFill>
              <a:srgbClr val="4F46E5"/>
            </a:solidFill>
            <a:prstDash val="lgDash"/>
            <a:round/>
            <a:headEnd len="sm" w="sm" type="none"/>
            <a:tailEnd len="sm" w="sm" type="none"/>
          </a:ln>
        </p:spPr>
      </p:pic>
      <p:pic>
        <p:nvPicPr>
          <p:cNvPr id="254" name="Google Shape;254;p22"/>
          <p:cNvPicPr preferRelativeResize="0"/>
          <p:nvPr/>
        </p:nvPicPr>
        <p:blipFill rotWithShape="1">
          <a:blip r:embed="rId7">
            <a:alphaModFix/>
          </a:blip>
          <a:srcRect b="40242" l="45197" r="35550" t="37741"/>
          <a:stretch/>
        </p:blipFill>
        <p:spPr>
          <a:xfrm>
            <a:off x="7729600" y="1164225"/>
            <a:ext cx="3694973" cy="2122100"/>
          </a:xfrm>
          <a:prstGeom prst="rect">
            <a:avLst/>
          </a:prstGeom>
          <a:noFill/>
          <a:ln cap="flat" cmpd="sng" w="28575">
            <a:solidFill>
              <a:srgbClr val="F97316"/>
            </a:solidFill>
            <a:prstDash val="lg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637978"/>
            <a:ext cx="5276850" cy="230594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371950" y="2076663"/>
            <a:ext cx="5277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Optimizes the Evidence Lower Bound (ELBO) to approximate the posterior.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6629400" y="2933253"/>
            <a:ext cx="492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</a:t>
            </a:r>
            <a:r>
              <a:rPr b="1" lang="en-US" sz="1404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ean-Field</a:t>
            </a: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Factorization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6629400" y="3323778"/>
            <a:ext cx="4686300" cy="324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q(η) = Π N(ηi; μi, si2)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629400" y="3962846"/>
            <a:ext cx="4686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Assumes zero correlation between parameters. Uses the reparameterization trick for gradients.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MEAN-FIELD VARIATIONAL IN</a:t>
            </a:r>
            <a:r>
              <a:rPr b="1" lang="en-US" sz="2700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FERENCE</a:t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23"/>
          <p:cNvPicPr preferRelativeResize="0"/>
          <p:nvPr/>
        </p:nvPicPr>
        <p:blipFill rotWithShape="1">
          <a:blip r:embed="rId5">
            <a:alphaModFix/>
          </a:blip>
          <a:srcRect b="48474" l="23390" r="54718" t="27722"/>
          <a:stretch/>
        </p:blipFill>
        <p:spPr>
          <a:xfrm>
            <a:off x="371950" y="2842625"/>
            <a:ext cx="5538077" cy="3387274"/>
          </a:xfrm>
          <a:prstGeom prst="rect">
            <a:avLst/>
          </a:prstGeom>
          <a:noFill/>
          <a:ln cap="flat" cmpd="sng" w="19050">
            <a:solidFill>
              <a:srgbClr val="22D3EE"/>
            </a:solidFill>
            <a:prstDash val="lgDash"/>
            <a:round/>
            <a:headEnd len="sm" w="sm" type="none"/>
            <a:tailEnd len="sm" w="sm" type="none"/>
          </a:ln>
        </p:spPr>
      </p:pic>
      <p:sp>
        <p:nvSpPr>
          <p:cNvPr id="268" name="Google Shape;268;p23"/>
          <p:cNvSpPr txBox="1"/>
          <p:nvPr/>
        </p:nvSpPr>
        <p:spPr>
          <a:xfrm>
            <a:off x="6426625" y="5352075"/>
            <a:ext cx="5806800" cy="1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Config: 2000 iterations, Adam @ lr=1e-2, 64 ELBO samples per gradient step, log_s init = -3</a:t>
            </a:r>
            <a:endParaRPr sz="18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581025" y="2671762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Planar Flows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581025" y="3795712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Captures complex correlations by warping a base Gaussian through 8 invertible planar layers.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581025" y="4481512"/>
            <a:ext cx="5276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Strictly better ELBO than Mean-Field.</a:t>
            </a:r>
            <a:endParaRPr/>
          </a:p>
        </p:txBody>
      </p:sp>
      <p:pic>
        <p:nvPicPr>
          <p:cNvPr descr="image.png" id="277" name="Google Shape;2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" y="3202781"/>
            <a:ext cx="2020490" cy="20240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NORMALIZING </a:t>
            </a:r>
            <a:r>
              <a:rPr b="1" i="0" lang="en-US" sz="27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FLOW-BASED VARIATIONAL INFERENCE</a:t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4"/>
          <p:cNvPicPr preferRelativeResize="0"/>
          <p:nvPr/>
        </p:nvPicPr>
        <p:blipFill rotWithShape="1">
          <a:blip r:embed="rId5">
            <a:alphaModFix/>
          </a:blip>
          <a:srcRect b="29491" l="16612" r="47967" t="51827"/>
          <a:stretch/>
        </p:blipFill>
        <p:spPr>
          <a:xfrm>
            <a:off x="6121725" y="2982200"/>
            <a:ext cx="5920550" cy="1756474"/>
          </a:xfrm>
          <a:prstGeom prst="rect">
            <a:avLst/>
          </a:prstGeom>
          <a:noFill/>
          <a:ln cap="flat" cmpd="sng" w="19050">
            <a:solidFill>
              <a:srgbClr val="22D3EE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281" name="Google Shape;281;p24"/>
          <p:cNvSpPr txBox="1"/>
          <p:nvPr/>
        </p:nvSpPr>
        <p:spPr>
          <a:xfrm>
            <a:off x="477775" y="4910125"/>
            <a:ext cx="52767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Config: 8 planar layers, Adam @ lr=1e-3, 5000 iterations, 32 ELBO samples per step.</a:t>
            </a:r>
            <a:endParaRPr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Variational Inference Methods Comparison </a:t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581025" y="581025"/>
            <a:ext cx="38100" cy="4383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25"/>
          <p:cNvPicPr preferRelativeResize="0"/>
          <p:nvPr/>
        </p:nvPicPr>
        <p:blipFill rotWithShape="1">
          <a:blip r:embed="rId4">
            <a:alphaModFix/>
          </a:blip>
          <a:srcRect b="0" l="34120" r="0" t="0"/>
          <a:stretch/>
        </p:blipFill>
        <p:spPr>
          <a:xfrm>
            <a:off x="247975" y="1278125"/>
            <a:ext cx="7029775" cy="2665000"/>
          </a:xfrm>
          <a:prstGeom prst="rect">
            <a:avLst/>
          </a:prstGeom>
          <a:noFill/>
          <a:ln cap="flat" cmpd="sng" w="19050">
            <a:solidFill>
              <a:srgbClr val="22D3EE"/>
            </a:solidFill>
            <a:prstDash val="lgDash"/>
            <a:round/>
            <a:headEnd len="sm" w="sm" type="none"/>
            <a:tailEnd len="sm" w="sm" type="none"/>
          </a:ln>
        </p:spPr>
      </p:pic>
      <p:pic>
        <p:nvPicPr>
          <p:cNvPr id="290" name="Google Shape;290;p25"/>
          <p:cNvPicPr preferRelativeResize="0"/>
          <p:nvPr/>
        </p:nvPicPr>
        <p:blipFill rotWithShape="1">
          <a:blip r:embed="rId5">
            <a:alphaModFix/>
          </a:blip>
          <a:srcRect b="0" l="0" r="65917" t="0"/>
          <a:stretch/>
        </p:blipFill>
        <p:spPr>
          <a:xfrm>
            <a:off x="7687174" y="1278127"/>
            <a:ext cx="4194875" cy="3221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pic>
      <p:pic>
        <p:nvPicPr>
          <p:cNvPr id="291" name="Google Shape;291;p25"/>
          <p:cNvPicPr preferRelativeResize="0"/>
          <p:nvPr/>
        </p:nvPicPr>
        <p:blipFill rotWithShape="1">
          <a:blip r:embed="rId5">
            <a:alphaModFix/>
          </a:blip>
          <a:srcRect b="0" l="34120" r="0" t="0"/>
          <a:stretch/>
        </p:blipFill>
        <p:spPr>
          <a:xfrm>
            <a:off x="247975" y="4005175"/>
            <a:ext cx="7029775" cy="2792975"/>
          </a:xfrm>
          <a:prstGeom prst="rect">
            <a:avLst/>
          </a:prstGeom>
          <a:noFill/>
          <a:ln cap="flat" cmpd="sng" w="19050">
            <a:solidFill>
              <a:srgbClr val="F97316"/>
            </a:solidFill>
            <a:prstDash val="lgDash"/>
            <a:round/>
            <a:headEnd len="sm" w="sm" type="none"/>
            <a:tailEnd len="sm" w="sm" type="none"/>
          </a:ln>
        </p:spPr>
      </p:pic>
      <p:sp>
        <p:nvSpPr>
          <p:cNvPr id="292" name="Google Shape;292;p25"/>
          <p:cNvSpPr txBox="1"/>
          <p:nvPr/>
        </p:nvSpPr>
        <p:spPr>
          <a:xfrm>
            <a:off x="7687163" y="4587600"/>
            <a:ext cx="4755000" cy="25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30712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Mean-field final ELBO = -116.49, </a:t>
            </a:r>
            <a:endParaRPr sz="1800">
              <a:solidFill>
                <a:srgbClr val="030712"/>
              </a:solidFill>
              <a:highlight>
                <a:schemeClr val="lt1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30712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Flow VI final ELBO = -112.26, </a:t>
            </a:r>
            <a:endParaRPr sz="1800">
              <a:solidFill>
                <a:srgbClr val="030712"/>
              </a:solidFill>
              <a:highlight>
                <a:schemeClr val="lt1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30712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ΔELBO ≈ 4 nats,</a:t>
            </a:r>
            <a:endParaRPr sz="1800">
              <a:solidFill>
                <a:srgbClr val="030712"/>
              </a:solidFill>
              <a:highlight>
                <a:schemeClr val="lt1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30712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 P1 std mean-field = 0.411 </a:t>
            </a:r>
            <a:endParaRPr sz="1800">
              <a:solidFill>
                <a:srgbClr val="030712"/>
              </a:solidFill>
              <a:highlight>
                <a:schemeClr val="lt1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30712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vs</a:t>
            </a:r>
            <a:endParaRPr sz="1800">
              <a:solidFill>
                <a:srgbClr val="030712"/>
              </a:solidFill>
              <a:highlight>
                <a:schemeClr val="lt1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30712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 Flow VI = 0.379.</a:t>
            </a:r>
            <a:endParaRPr sz="1800">
              <a:solidFill>
                <a:srgbClr val="030712"/>
              </a:solidFill>
              <a:highlight>
                <a:schemeClr val="lt1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8595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544000" y="3509650"/>
            <a:ext cx="5277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Compound Kernel: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Combines local MALA moves with global Flow proposals.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877375" y="4214500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Real-NVP architecture (6 layers)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877375" y="4662175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Adaptive training on chain history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877375" y="5109850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Enables jumping between distant modes</a:t>
            </a:r>
            <a:endParaRPr/>
          </a:p>
        </p:txBody>
      </p:sp>
      <p:pic>
        <p:nvPicPr>
          <p:cNvPr descr="image.png" id="303" name="Google Shape;30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000" y="425736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4000" y="470503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4000" y="515271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6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Normalizing Flow MCMC</a:t>
            </a: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6"/>
          <p:cNvPicPr preferRelativeResize="0"/>
          <p:nvPr/>
        </p:nvPicPr>
        <p:blipFill rotWithShape="1">
          <a:blip r:embed="rId8">
            <a:alphaModFix/>
          </a:blip>
          <a:srcRect b="18343" l="19834" r="50337" t="71458"/>
          <a:stretch/>
        </p:blipFill>
        <p:spPr>
          <a:xfrm>
            <a:off x="478212" y="2214887"/>
            <a:ext cx="5741798" cy="110424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 txBox="1"/>
          <p:nvPr/>
        </p:nvSpPr>
        <p:spPr>
          <a:xfrm>
            <a:off x="6277050" y="2665700"/>
            <a:ext cx="5391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Space Grotesk"/>
              <a:buChar char="●"/>
            </a:pPr>
            <a:r>
              <a:rPr lang="en-US" sz="200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Config: 24 chains × 600 outer iterations </a:t>
            </a:r>
            <a:endParaRPr sz="20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Space Grotesk"/>
              <a:buChar char="●"/>
            </a:pPr>
            <a:r>
              <a:rPr lang="en-US" sz="200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MALA τ = 5e-4</a:t>
            </a:r>
            <a:endParaRPr sz="20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Space Grotesk"/>
              <a:buChar char="●"/>
            </a:pPr>
            <a:r>
              <a:rPr lang="en-US" sz="200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RealNVP with 6 layers and hidden=64, warmup of 50 iterations</a:t>
            </a:r>
            <a:endParaRPr sz="20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Space Grotesk"/>
              <a:buChar char="●"/>
            </a:pPr>
            <a:r>
              <a:rPr lang="en-US" sz="200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training buffer size = 2000.</a:t>
            </a:r>
            <a:endParaRPr sz="20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7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Normalizing Flow MCMC Results</a:t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581025" y="581025"/>
            <a:ext cx="38100" cy="4383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450" y="1585450"/>
            <a:ext cx="11785099" cy="30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7"/>
          <p:cNvSpPr txBox="1"/>
          <p:nvPr/>
        </p:nvSpPr>
        <p:spPr>
          <a:xfrm>
            <a:off x="475275" y="4835475"/>
            <a:ext cx="11513400" cy="18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900"/>
              <a:buFont typeface="Space Grotesk"/>
              <a:buChar char="●"/>
            </a:pPr>
            <a:r>
              <a:rPr lang="en-US" sz="290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Local MALA acceptance = 0.36</a:t>
            </a:r>
            <a:endParaRPr sz="29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900"/>
              <a:buFont typeface="Space Grotesk"/>
              <a:buChar char="●"/>
            </a:pPr>
            <a:r>
              <a:rPr lang="en-US" sz="290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Global flow acceptance = 0.02</a:t>
            </a:r>
            <a:endParaRPr sz="29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900"/>
              <a:buFont typeface="Space Grotesk"/>
              <a:buChar char="●"/>
            </a:pPr>
            <a:r>
              <a:rPr lang="en-US" sz="290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P2 std = 2.47 days</a:t>
            </a:r>
            <a:endParaRPr sz="29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900"/>
              <a:buFont typeface="Space Grotesk"/>
              <a:buChar char="●"/>
            </a:pPr>
            <a:r>
              <a:rPr lang="en-US" sz="290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All four sanity checks pass.</a:t>
            </a:r>
            <a:endParaRPr sz="29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8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Side-by-Side Chain Comparison </a:t>
            </a:r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581025" y="581025"/>
            <a:ext cx="38100" cy="4383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973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28" title="chains_compariso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1725"/>
            <a:ext cx="11887198" cy="525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725" y="3511663"/>
            <a:ext cx="11029950" cy="390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9"/>
          <p:cNvSpPr txBox="1"/>
          <p:nvPr/>
        </p:nvSpPr>
        <p:spPr>
          <a:xfrm>
            <a:off x="580950" y="6139187"/>
            <a:ext cx="1103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VI offers confident but potentially over-confident unimodal fits. MCMC provides honest multimodal exploration.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CROSS-METHOD PERFORMANCE</a:t>
            </a:r>
            <a:endParaRPr/>
          </a:p>
        </p:txBody>
      </p:sp>
      <p:sp>
        <p:nvSpPr>
          <p:cNvPr id="334" name="Google Shape;334;p29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5" name="Google Shape;335;p29"/>
          <p:cNvGraphicFramePr/>
          <p:nvPr/>
        </p:nvGraphicFramePr>
        <p:xfrm>
          <a:off x="622050" y="14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{FB5C299A-1F18-4144-87EC-A3B98441E50E}</a:tableStyleId>
              </a:tblPr>
              <a:tblGrid>
                <a:gridCol w="2736975"/>
                <a:gridCol w="2736975"/>
                <a:gridCol w="2736975"/>
                <a:gridCol w="2736975"/>
              </a:tblGrid>
              <a:tr h="43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 std (day)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 std (day)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 ELBO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3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Hamiltonian Monte Carlo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12.81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111.85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67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Mean-Field Variational Inference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0.41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1.63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-116.49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67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Normalizing Flow Variational Inference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0.38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1.65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-112.26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3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Normalizing Flow MCMC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2.47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A3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0" name="Google Shape;34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0"/>
          <p:cNvSpPr txBox="1"/>
          <p:nvPr/>
        </p:nvSpPr>
        <p:spPr>
          <a:xfrm>
            <a:off x="581025" y="2676525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Findings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6334125" y="2676525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What's Next?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914400" y="3048000"/>
            <a:ext cx="49434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Flow VI strictly improves on mean-field VI in ELBO (~4 nats), but mostly through joint correlations rather than marginal shapes</a:t>
            </a:r>
            <a:endParaRPr b="1" sz="11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4" name="Google Shape;344;p30"/>
          <p:cNvSpPr txBox="1"/>
          <p:nvPr/>
        </p:nvSpPr>
        <p:spPr>
          <a:xfrm>
            <a:off x="914400" y="3752850"/>
            <a:ext cx="49434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Flow-MCMC produces more robust posteriors than vanilla HMC, with cleaner uncertainty estimates and chain-wandering protection</a:t>
            </a:r>
            <a:endParaRPr b="1" sz="11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5" name="Google Shape;345;p30"/>
          <p:cNvSpPr txBox="1"/>
          <p:nvPr/>
        </p:nvSpPr>
        <p:spPr>
          <a:xfrm>
            <a:off x="914400" y="4457700"/>
            <a:ext cx="49434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Both flow methods are useful incremental improvements, not complete solutions</a:t>
            </a:r>
            <a:endParaRPr b="1" sz="110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94A3B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6" name="Google Shape;346;p30"/>
          <p:cNvSpPr txBox="1"/>
          <p:nvPr/>
        </p:nvSpPr>
        <p:spPr>
          <a:xfrm>
            <a:off x="6667500" y="3048000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Real-NVP as the Flow-VI backbone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6667500" y="3495675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Tighter priors on semi-amplitude (K)</a:t>
            </a:r>
            <a:endParaRPr/>
          </a:p>
        </p:txBody>
      </p:sp>
      <p:sp>
        <p:nvSpPr>
          <p:cNvPr id="348" name="Google Shape;348;p30"/>
          <p:cNvSpPr txBox="1"/>
          <p:nvPr/>
        </p:nvSpPr>
        <p:spPr>
          <a:xfrm>
            <a:off x="6667500" y="3943350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R-hat Diagnostics across chains</a:t>
            </a:r>
            <a:endParaRPr/>
          </a:p>
        </p:txBody>
      </p:sp>
      <p:pic>
        <p:nvPicPr>
          <p:cNvPr descr="image.png" id="349" name="Google Shape;34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90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7957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5005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0908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5385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9862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0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SUMMARY &amp; FUTURE DIRECTIONS</a:t>
            </a:r>
            <a:endParaRPr/>
          </a:p>
        </p:txBody>
      </p:sp>
      <p:sp>
        <p:nvSpPr>
          <p:cNvPr id="356" name="Google Shape;356;p30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771525" y="1122125"/>
            <a:ext cx="11193300" cy="5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AutoNum type="arabicPeriod"/>
            </a:pP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Rezende, D. J.; Mohamed, S. Variational Inference with Normalizing Flows.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Proceedings of the 32nd International Conference on Machine Learning (ICML)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2015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37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, 1530-1538.</a:t>
            </a:r>
            <a:endParaRPr sz="13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AutoNum type="arabicPeriod"/>
            </a:pP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Gabrié, M.; Rotskoff, G. M.; Vanden-Eijnden, E. Adaptive Monte Carlo Augmented with Normalizing Flows.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Proc. Natl. Acad. Sci. U.S.A.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2022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119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(10), e2109420119.</a:t>
            </a:r>
            <a:endParaRPr sz="13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AutoNum type="arabicPeriod"/>
            </a:pP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Neal, R. M. MCMC Using Hamiltonian Dynamics. In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Handbook of Markov Chain Monte Carlo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; Brooks, S., Gelman, A., Jones, G. L., Meng, X.-L., Eds.; Chapman and Hall/CRC: Boca Raton, FL, </a:t>
            </a:r>
            <a:r>
              <a:rPr b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2011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; pp 113-162.</a:t>
            </a:r>
            <a:endParaRPr sz="13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AutoNum type="arabicPeriod"/>
            </a:pP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Duane, S.; Kennedy, A. D.; Pendleton, B. J.; Roweth, D. Hybrid Monte Carlo.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Phys. Lett. B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1987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195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(2), 216-222.</a:t>
            </a:r>
            <a:endParaRPr sz="13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AutoNum type="arabicPeriod"/>
            </a:pP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Dinh, L.; Sohl-Dickstein, J.; Bengio, S. Density Estimation Using Real NVP.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International Conference on Learning Representations (ICLR)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b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2017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13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AutoNum type="arabicPeriod"/>
            </a:pP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Roberts, G. O.; Tweedie, R. L. Exponential Convergence of Langevin Distributions and Their Discrete Approximations.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Bernoulli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1996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(4), 341-363.</a:t>
            </a:r>
            <a:endParaRPr sz="13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AutoNum type="arabicPeriod"/>
            </a:pP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Kingma, D. P.; Welling, M. Auto-Encoding Variational Bayes.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International Conference on Learning Representations (ICLR)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b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2014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13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AutoNum type="arabicPeriod"/>
            </a:pP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Blei, D. M.; Kucukelbir, A.; McAuliffe, J. D. Variational Inference: A Review for Statisticians.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J. Am. Stat. Assoc.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2017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112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(518), 859-877.</a:t>
            </a:r>
            <a:endParaRPr sz="13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AutoNum type="arabicPeriod"/>
            </a:pP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Jordan, M. I.; Ghahramani, Z.; Jaakkola, T. S.; Saul, L. K. An Introduction to Variational Methods for Graphical Models.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Mach. Learn.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1999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37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(2), 183-233.</a:t>
            </a:r>
            <a:endParaRPr sz="13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AutoNum type="arabicPeriod"/>
            </a:pP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Kipping, D. M. Parametrizing the Exoplanet Eccentricity Distribution with the Beta Distribution.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Mon. Not. R. Astron. Soc.: Lett.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2013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434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(1), L51-L55.</a:t>
            </a:r>
            <a:endParaRPr sz="13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AutoNum type="arabicPeriod"/>
            </a:pP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Petigura, E. A.; Howard, A. W.; Lopez, E. D.; et al. Two Transiting Low-Density Sub-Saturns from K2.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Astrophys. J.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2016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818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(1), 36.</a:t>
            </a:r>
            <a:endParaRPr sz="13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AutoNum type="arabicPeriod"/>
            </a:pP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Geyer, C. J. Practical Markov Chain Monte Carlo.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Stat. Sci.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1992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7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(4), 473-483.</a:t>
            </a:r>
            <a:endParaRPr sz="13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AutoNum type="arabicPeriod"/>
            </a:pP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Fulton, B. J.; Petigura, E. A.; Blunt, S.; Sinukoff, E. RadVel: The Radial Velocity Modeling Toolkit.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Publ. Astron. Soc. Pac.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2018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i="1"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130</a:t>
            </a:r>
            <a:r>
              <a:rPr lang="en-US" sz="1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(986), 044504.</a:t>
            </a:r>
            <a:endParaRPr sz="13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4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3" name="Google Shape;363;p31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References</a:t>
            </a:r>
            <a:endParaRPr/>
          </a:p>
        </p:txBody>
      </p:sp>
      <p:sp>
        <p:nvSpPr>
          <p:cNvPr id="364" name="Google Shape;364;p31"/>
          <p:cNvSpPr/>
          <p:nvPr/>
        </p:nvSpPr>
        <p:spPr>
          <a:xfrm>
            <a:off x="581025" y="581025"/>
            <a:ext cx="38100" cy="438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9" name="Google Shape;36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/>
          <p:nvPr/>
        </p:nvSpPr>
        <p:spPr>
          <a:xfrm>
            <a:off x="581025" y="1467891"/>
            <a:ext cx="110301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580950" y="1533459"/>
            <a:ext cx="110301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581025" y="2361009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581025" y="2361009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2"/>
          <p:cNvSpPr/>
          <p:nvPr/>
        </p:nvSpPr>
        <p:spPr>
          <a:xfrm>
            <a:off x="581025" y="1516309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2"/>
          <p:cNvSpPr/>
          <p:nvPr/>
        </p:nvSpPr>
        <p:spPr>
          <a:xfrm>
            <a:off x="580950" y="1516309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6" name="Google Shape;37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950" y="16763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2"/>
          <p:cNvSpPr txBox="1"/>
          <p:nvPr/>
        </p:nvSpPr>
        <p:spPr>
          <a:xfrm>
            <a:off x="1676325" y="1697319"/>
            <a:ext cx="9934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https://cdn.esawebb.org/archives/images/wallpaper5/HIP-65426b.jpg</a:t>
            </a:r>
            <a:endParaRPr/>
          </a:p>
        </p:txBody>
      </p:sp>
      <p:sp>
        <p:nvSpPr>
          <p:cNvPr id="378" name="Google Shape;378;p32"/>
          <p:cNvSpPr txBox="1"/>
          <p:nvPr/>
        </p:nvSpPr>
        <p:spPr>
          <a:xfrm>
            <a:off x="1676325" y="1918180"/>
            <a:ext cx="99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esawebb.org</a:t>
            </a:r>
            <a:endParaRPr/>
          </a:p>
        </p:txBody>
      </p:sp>
      <p:sp>
        <p:nvSpPr>
          <p:cNvPr id="379" name="Google Shape;379;p32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</a:t>
            </a:r>
            <a:endParaRPr/>
          </a:p>
        </p:txBody>
      </p:sp>
      <p:sp>
        <p:nvSpPr>
          <p:cNvPr id="380" name="Google Shape;380;p32"/>
          <p:cNvSpPr/>
          <p:nvPr/>
        </p:nvSpPr>
        <p:spPr>
          <a:xfrm>
            <a:off x="581025" y="581025"/>
            <a:ext cx="47700" cy="543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